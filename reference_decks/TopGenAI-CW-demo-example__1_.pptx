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anthropic.com/news/series-h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runwayml.com/news/mc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openai.com/index/gpt-5-6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x.ai/news/grok-buil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mistral.ai/news/physics-a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blogs.nvidia.com/blog/inference-stack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sciencedaily.com/releases/2026/uc-davis-spectrometer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rcRect l="10152" r="10152"/>
          <a:stretch>
            <a:fillRect/>
          </a:stretch>
        </p:blipFill>
        <p:spPr>
          <a:xfrm>
            <a:off x="7406640" y="0"/>
            <a:ext cx="4782312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48640" y="822960"/>
            <a:ext cx="6675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TOP GEN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82296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6751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defRPr sz="4600" b="1">
                <a:solidFill>
                  <a:srgbClr val="F5F6F8"/>
                </a:solidFill>
                <a:latin typeface="Arial"/>
              </a:defRPr>
            </a:pPr>
            <a:r>
              <a:t>Top Gen AI Advances: CW35,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B9C0CC"/>
                </a:solidFill>
                <a:latin typeface="Arial"/>
              </a:defRPr>
            </a:pPr>
            <a:r>
              <a:t>AI Executive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GENERATED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253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5F6F8"/>
                </a:solidFill>
                <a:latin typeface="Arial"/>
              </a:defRPr>
            </a:pPr>
            <a:r>
              <a:t>26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669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PREPARED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9253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5F6F8"/>
                </a:solidFill>
                <a:latin typeface="Arial"/>
              </a:defRPr>
            </a:pPr>
            <a:r>
              <a:t>Enterprise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WEEKLY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200" b="1">
                <a:solidFill>
                  <a:srgbClr val="F5F6F8"/>
                </a:solidFill>
                <a:latin typeface="Arial"/>
              </a:defRPr>
            </a:pPr>
            <a:r>
              <a:t>This Week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640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00" b="0">
                <a:solidFill>
                  <a:srgbClr val="B9C0CC"/>
                </a:solidFill>
                <a:latin typeface="Arial"/>
              </a:defRPr>
            </a:pPr>
            <a:r>
              <a:t>This week's developments span frontier models, agentic developer tooling, industrial simulation and AI infrastructure economics, with continued heavy investment in scaling frontier labs.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2567178" cy="1508760"/>
          </a:xfrm>
          <a:prstGeom prst="rect">
            <a:avLst/>
          </a:prstGeom>
          <a:solidFill>
            <a:srgbClr val="161F30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320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44952"/>
            <a:ext cx="24757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000" b="1">
                <a:solidFill>
                  <a:srgbClr val="F5F6F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247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DEVELOPMENTS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138" y="2880360"/>
            <a:ext cx="2567178" cy="1508760"/>
          </a:xfrm>
          <a:prstGeom prst="rect">
            <a:avLst/>
          </a:prstGeom>
          <a:solidFill>
            <a:srgbClr val="161F30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138" y="2880360"/>
            <a:ext cx="320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5858" y="3044952"/>
            <a:ext cx="24757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000" b="1">
                <a:solidFill>
                  <a:srgbClr val="F5F6F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5858" y="3931920"/>
            <a:ext cx="247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DOMAINS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880360"/>
            <a:ext cx="2567178" cy="1508760"/>
          </a:xfrm>
          <a:prstGeom prst="rect">
            <a:avLst/>
          </a:prstGeom>
          <a:solidFill>
            <a:srgbClr val="161F30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2880360"/>
            <a:ext cx="320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7356" y="3044952"/>
            <a:ext cx="24757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000" b="1">
                <a:solidFill>
                  <a:srgbClr val="F5F6F8"/>
                </a:solidFill>
                <a:latin typeface="Arial"/>
              </a:defRPr>
            </a:pPr>
            <a:r>
              <a:t>7.9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3931920"/>
            <a:ext cx="247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AVG. INNOVATION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73134" y="2880360"/>
            <a:ext cx="2567178" cy="1508760"/>
          </a:xfrm>
          <a:prstGeom prst="rect">
            <a:avLst/>
          </a:prstGeom>
          <a:solidFill>
            <a:srgbClr val="161F30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3134" y="2880360"/>
            <a:ext cx="320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8854" y="3044952"/>
            <a:ext cx="24757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000" b="1">
                <a:solidFill>
                  <a:srgbClr val="F5F6F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3931920"/>
            <a:ext cx="247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RISK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8B93A1"/>
                </a:solidFill>
                <a:latin typeface="Arial"/>
              </a:defRPr>
            </a:pPr>
            <a:r>
              <a:t>TOP THEMES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627631" cy="38404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>
              <a:defRPr sz="1100" b="1">
                <a:solidFill>
                  <a:srgbClr val="F5F6F8"/>
                </a:solidFill>
                <a:latin typeface="Arial"/>
              </a:defRPr>
            </a:pPr>
            <a:r>
              <a:t>Generative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0863" y="5120640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>
              <a:defRPr sz="1100" b="1">
                <a:solidFill>
                  <a:srgbClr val="F5F6F8"/>
                </a:solidFill>
                <a:latin typeface="Arial"/>
              </a:defRPr>
            </a:pPr>
            <a:r>
              <a:t>Large Language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59" y="512064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>
              <a:defRPr sz="1100" b="1">
                <a:solidFill>
                  <a:srgbClr val="F5F6F8"/>
                </a:solidFill>
                <a:latin typeface="Arial"/>
              </a:defRPr>
            </a:pPr>
            <a:r>
              <a:t>Developer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399" y="512064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>
              <a:defRPr sz="1100" b="1">
                <a:solidFill>
                  <a:srgbClr val="F5F6F8"/>
                </a:solidFill>
                <a:latin typeface="Arial"/>
              </a:defRPr>
            </a:pPr>
            <a:r>
              <a:t>AI Infrastructure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59" y="512064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>
              <a:defRPr sz="1100" b="1">
                <a:solidFill>
                  <a:srgbClr val="F5F6F8"/>
                </a:solidFill>
                <a:latin typeface="Arial"/>
              </a:defRPr>
            </a:pPr>
            <a:r>
              <a:t>AI 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5486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Top Gen AI | AI Executive Briefing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SIGNAL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200" b="1">
                <a:solidFill>
                  <a:srgbClr val="F5F6F8"/>
                </a:solidFill>
                <a:latin typeface="Arial"/>
              </a:defRPr>
            </a:pPr>
            <a:r>
              <a:t>Weekly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640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C9A22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OpenAI launches GPT-5.6 for advanced research, coding, and enterprise security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3055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OpenAI released GPT-5.6, a frontier update aimed at research, coding and cybersecurity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C9A22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Mistral's Physics AI accelerates engineering simulation from weeks to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9067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Mistral introduced Physics AI, predicting physical-system behavior from geometry and boundary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7889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93592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C9A22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xAI Grok Build brings coding agents into the terminal for professional engineering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5079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Grok Build launched as a terminal-native coding agent and CLI for professional software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37490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53712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C9A22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63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NVIDIA's new inference stack cuts enterprise LLM serving costs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1091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NVIDIA detailed a new inference stack aimed at reducing per-token serving costs for enterprise LLM deployments.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4709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5486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Top Gen AI | AI Executive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ive_ai.png"/>
          <p:cNvPicPr>
            <a:picLocks noChangeAspect="1"/>
          </p:cNvPicPr>
          <p:nvPr/>
        </p:nvPicPr>
        <p:blipFill>
          <a:blip r:embed="rId2"/>
          <a:srcRect l="24850" r="24850"/>
          <a:stretch>
            <a:fillRect/>
          </a:stretch>
        </p:blipFill>
        <p:spPr>
          <a:xfrm>
            <a:off x="7589520" y="0"/>
            <a:ext cx="4599432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C9A22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800" b="1">
                <a:solidFill>
                  <a:srgbClr val="F5F6F8"/>
                </a:solidFill>
                <a:latin typeface="Arial"/>
              </a:defRPr>
            </a:pPr>
            <a: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B9C0CC"/>
                </a:solidFill>
                <a:latin typeface="Arial"/>
              </a:defRPr>
            </a:pPr>
            <a:r>
              <a:t>Generative content and multimodal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Top Gen AI | AI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27631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Anthropic's $65B Series H reinforces the scale race across frontier AI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Signals continued enterprise investment in Claude-based products and safety tooling.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8962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4954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Funding is directed toward safety research, compute expansion, and enterprise scale.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59860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95852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Frontier AI investment keeps concentrating around model capability and enterprise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5894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3910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651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6830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$965B 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5955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267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generative_ai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4CB382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Production-ready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Compute scaling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0196" y="4023360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Safety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Anthropic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27631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Runway MCP embeds creative generation directly into agent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Enables product images, marketing videos and campaign variants without switching tools.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8962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4954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Creative production is becoming agent-orchestrated and increasingly multi-model.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59860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95852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Expect creative tooling to keep collapsing into general-purpose agent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5894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3910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651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6830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Multi-model creative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5955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267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generative_ai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4CB382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Pilot-ready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2644" y="4023360"/>
            <a:ext cx="996695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Video 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9067" y="402336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Runway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OpenAI launches GPT-5.6 for advanced research, coding, and enterprise security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Useful for software engineering, research acceleration, and cybersecurity triage teams.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8962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4954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OpenAI emphasizes better intelligence-per-dollar, with improved long-context reasoning and tool use.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59860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95852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AI performance is shifting from experimentation toward cost-efficient production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5894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3910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651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6830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More performance per dollar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5955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267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large_language_models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9/10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4CB382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Production-ready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996695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Reasoning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6419" y="40233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Tool 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0547" y="402336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Long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OpenAI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DEVELOPER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xAI Grok Build brings coding agents into the terminal for professional engineering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Supports plan review, clean diffs, repository conventions, subagents and MCP servers.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8962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4954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AI developer tools are shifting from copilots to agentic engineering workflows.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59860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95852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Expect terminal-native agents to become a standard part of enterprise dev toolchains.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5894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3910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651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6830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Agentic CLI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5955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267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developer_ai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8/10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E0A93E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Pilot-ready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Agentic coding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7900" y="40233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0548" y="40233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xAI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029968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AI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Mistral's Physics AI accelerates engineering simulation from weeks to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263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Targets CFD/FEM bottlenecks in industrial design-space exploration.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89097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125089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Combines learned surrogates with classical solvers to shortcut expensive simulation cycles.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69995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705987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Industrial simulation is becoming a frontier-AI workflow, not just a scientific-computing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6029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24045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16653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26965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Simulation cycles: weeks -&gt;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9609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06402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ai_infrastructure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8/10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E0A93E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Pilot-ready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Physics 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8716" y="402336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Simulation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7436" y="40233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CFD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Mistral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AI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NVIDIA's new inference stack cuts enterprise LLM serving costs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Lowers the cost floor for running frontier-scale models in production.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8962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4954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Combines quantization, speculative decoding and improved scheduling across GPU fleets.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59860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95852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Inference economics, not just training cost, is becoming the primary AI infrastructure battleground.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5894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3910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651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6830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Lower cost per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5955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267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ai_hardware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4CB382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Production-ready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996695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6419" y="402336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Quantization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9731" y="402336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GPU 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NVIDIA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60513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800" b="1">
                <a:solidFill>
                  <a:srgbClr val="F5F6F8"/>
                </a:solidFill>
                <a:latin typeface="Arial"/>
              </a:defRPr>
            </a:pPr>
            <a:r>
              <a:t>UC Davis AI chip shrinks spectrometry to grain-of-sand scale for portable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6584"/>
            <a:ext cx="6051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98064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34056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Could bring lab-style diagnostics to portable devices, wearables and field sensing.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8962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4954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AI is pushing scientific instrumentation from centralized labs toward the edge.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59860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95852"/>
            <a:ext cx="5850148" cy="452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B9C0CC"/>
                </a:solidFill>
                <a:latin typeface="Arial"/>
              </a:defRPr>
            </a:pPr>
            <a:r>
              <a:t>Expect more sensing hardware to ship with embedded inference rather than cloud round-trips.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5894"/>
            <a:ext cx="6051316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3910"/>
            <a:ext cx="60513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651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Strategic: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6830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  <a:r>
              <a:t>Grain-of-sand scale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5955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8B93A1"/>
                </a:solidFill>
                <a:latin typeface="Arial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267"/>
            <a:ext cx="6051316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0">
                <a:solidFill>
                  <a:srgbClr val="F5F6F8"/>
                </a:solidFill>
                <a:latin typeface="Arial"/>
              </a:defRPr>
            </a:pPr>
          </a:p>
        </p:txBody>
      </p:sp>
      <p:pic>
        <p:nvPicPr>
          <p:cNvPr id="18" name="Picture 17" descr="computer_vision.png"/>
          <p:cNvPicPr>
            <a:picLocks noChangeAspect="1"/>
          </p:cNvPicPr>
          <p:nvPr/>
        </p:nvPicPr>
        <p:blipFill>
          <a:blip r:embed="rId2"/>
          <a:srcRect t="13194" b="13194"/>
          <a:stretch>
            <a:fillRect/>
          </a:stretch>
        </p:blipFill>
        <p:spPr>
          <a:xfrm>
            <a:off x="6919996" y="502920"/>
            <a:ext cx="4720315" cy="26060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919996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9996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434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434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E0A93E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6872" y="3310128"/>
            <a:ext cx="15002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8B93A1"/>
                </a:solidFill>
                <a:latin typeface="Arial"/>
              </a:defRPr>
            </a:pPr>
            <a:r>
              <a:t>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6872" y="3547872"/>
            <a:ext cx="1500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5F6F8"/>
                </a:solidFill>
                <a:latin typeface="Arial"/>
              </a:defRPr>
            </a:pPr>
            <a:r>
              <a:t>Early 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9996" y="4023360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Edge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1828" y="4023360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Sensors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03660" y="402336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61F30"/>
          </a:solidFill>
          <a:ln w="9525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50">
                <a:solidFill>
                  <a:srgbClr val="B9C0CC"/>
                </a:solidFill>
                <a:latin typeface="Arial"/>
              </a:defRPr>
            </a:pPr>
            <a:r>
              <a:t>Spectrometry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3A1"/>
                </a:solidFill>
                <a:latin typeface="Arial"/>
                <a:hlinkClick r:id="rId3"/>
              </a:rPr>
              <a:t>Source: UC Davis / ScienceDaily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4392" y="25603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8B93A1"/>
                </a:solidFill>
                <a:latin typeface="Arial"/>
              </a:defRPr>
            </a:pPr>
            <a:r>
              <a:t>CW35,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C9A227"/>
                </a:solidFill>
                <a:latin typeface="Arial"/>
              </a:defRPr>
            </a:pPr>
            <a:r>
              <a:t>LEADERSHIP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5F6F8"/>
                </a:solidFill>
                <a:latin typeface="Arial"/>
              </a:defRPr>
            </a:pPr>
            <a:r>
              <a:t>What This Means for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640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C9A22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6517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F5F6F8"/>
                </a:solidFill>
                <a:latin typeface="Arial"/>
              </a:defRPr>
            </a:pPr>
            <a:r>
              <a:t>Generative AI produced the most developments this week (2).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737360"/>
            <a:ext cx="35661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This domain is moving faster than others and is likely where competitive gaps open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959352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A3821B"/>
                </a:solidFill>
                <a:latin typeface="Arial"/>
              </a:defRPr>
            </a:pPr>
            <a:r>
              <a:t>Prioritize a capability review in Generative AI this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99969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91409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C9A22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91409"/>
            <a:ext cx="26517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F5F6F8"/>
                </a:solidFill>
                <a:latin typeface="Arial"/>
              </a:defRPr>
            </a:pPr>
            <a:r>
              <a:t>Large Language Models shows the highest average innovation score this week (9.1/10).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91409"/>
            <a:ext cx="35661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Capability in this domain is advancing faster than the rest of the market average.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591409"/>
            <a:ext cx="3959352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A3821B"/>
                </a:solidFill>
                <a:latin typeface="Arial"/>
              </a:defRPr>
            </a:pPr>
            <a:r>
              <a:t>Benchmark current vendors in Large Language Models against this week's developments.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54018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545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C9A22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45458"/>
            <a:ext cx="26517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F5F6F8"/>
                </a:solidFill>
                <a:latin typeface="Arial"/>
              </a:defRPr>
            </a:pPr>
            <a:r>
              <a:t>3 development(s) are already assessed as production-ready.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445458"/>
            <a:ext cx="35661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These require no additional pilot phase to start delivering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445458"/>
            <a:ext cx="3959352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A3821B"/>
                </a:solidFill>
                <a:latin typeface="Arial"/>
              </a:defRPr>
            </a:pPr>
            <a:r>
              <a:t>Fast-track evaluation for teams with an immediate use case.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8067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9950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C9A22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99507"/>
            <a:ext cx="26517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F5F6F8"/>
                </a:solidFill>
                <a:latin typeface="Arial"/>
              </a:defRPr>
            </a:pPr>
            <a:r>
              <a:t>Developments this week span 6 distinct technology domain(s).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299507"/>
            <a:ext cx="35661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Broad movement across domains suggests no single competitive front to watch.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99507"/>
            <a:ext cx="3959352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A3821B"/>
                </a:solidFill>
                <a:latin typeface="Arial"/>
              </a:defRPr>
            </a:pPr>
            <a:r>
              <a:t>Assign domain owners to monitor each area independently rather than centralizing tracking.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62116"/>
            <a:ext cx="11091672" cy="9525"/>
          </a:xfrm>
          <a:prstGeom prst="rect">
            <a:avLst/>
          </a:prstGeom>
          <a:solidFill>
            <a:srgbClr val="2A3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5355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C9A22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53556"/>
            <a:ext cx="26517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F5F6F8"/>
                </a:solidFill>
                <a:latin typeface="Arial"/>
              </a:defRPr>
            </a:pPr>
            <a:r>
              <a:t>OpenAI was the most active source this week (1 development(s)).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153556"/>
            <a:ext cx="3566160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B9C0CC"/>
                </a:solidFill>
                <a:latin typeface="Arial"/>
              </a:defRPr>
            </a:pPr>
            <a:r>
              <a:t>Concentration in one lab/vendor's release cadence is worth tracking for roadmap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153556"/>
            <a:ext cx="3959352" cy="7168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A3821B"/>
                </a:solidFill>
                <a:latin typeface="Arial"/>
              </a:defRPr>
            </a:pPr>
            <a:r>
              <a:t>Add OpenAI's roadmap and release notes to standing competitive watch.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5486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Top Gen AI | AI Executive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51052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B93A1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9A227"/>
      </a:hlink>
      <a:folHlink>
        <a:srgbClr val="C9A2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