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5" d="100"/>
          <a:sy n="55" d="100"/>
        </p:scale>
        <p:origin x="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177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>
              <a:effectLst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A0F394-6BC4-491C-90FD-EF72E84E7F3C}" type="slidenum"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91515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7F24906-AE7E-6354-BEF6-653E4278B8E2}"/>
              </a:ext>
            </a:extLst>
          </p:cNvPr>
          <p:cNvGrpSpPr/>
          <p:nvPr/>
        </p:nvGrpSpPr>
        <p:grpSpPr>
          <a:xfrm>
            <a:off x="365761" y="366350"/>
            <a:ext cx="4886768" cy="6125303"/>
            <a:chOff x="521210" y="647905"/>
            <a:chExt cx="11365967" cy="5565740"/>
          </a:xfrm>
        </p:grpSpPr>
        <p:sp>
          <p:nvSpPr>
            <p:cNvPr id="8" name="Shape 2">
              <a:extLst>
                <a:ext uri="{FF2B5EF4-FFF2-40B4-BE49-F238E27FC236}">
                  <a16:creationId xmlns:a16="http://schemas.microsoft.com/office/drawing/2014/main" id="{97863BD0-3668-62B2-C6F4-BD77D371C352}"/>
                </a:ext>
              </a:extLst>
            </p:cNvPr>
            <p:cNvSpPr/>
            <p:nvPr/>
          </p:nvSpPr>
          <p:spPr>
            <a:xfrm>
              <a:off x="725402" y="1009217"/>
              <a:ext cx="11161775" cy="5204428"/>
            </a:xfrm>
            <a:prstGeom prst="rect">
              <a:avLst/>
            </a:prstGeom>
            <a:solidFill>
              <a:schemeClr val="accent4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  <p:sp>
          <p:nvSpPr>
            <p:cNvPr id="9" name="Shape 1">
              <a:extLst>
                <a:ext uri="{FF2B5EF4-FFF2-40B4-BE49-F238E27FC236}">
                  <a16:creationId xmlns:a16="http://schemas.microsoft.com/office/drawing/2014/main" id="{A731F6E5-8C9E-C424-E6F3-6E6FC4DD5464}"/>
                </a:ext>
              </a:extLst>
            </p:cNvPr>
            <p:cNvSpPr/>
            <p:nvPr/>
          </p:nvSpPr>
          <p:spPr>
            <a:xfrm>
              <a:off x="521210" y="647905"/>
              <a:ext cx="10911523" cy="5370984"/>
            </a:xfrm>
            <a:prstGeom prst="rect">
              <a:avLst/>
            </a:prstGeom>
            <a:solidFill>
              <a:schemeClr val="bg1"/>
            </a:solidFill>
            <a:ln w="254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US" sz="1800" b="0" i="0" u="none" strike="noStrike" cap="none" noProof="0">
                <a:solidFill>
                  <a:schemeClr val="lt1"/>
                </a:solidFill>
                <a:latin typeface="Karla"/>
                <a:ea typeface="Karla"/>
                <a:cs typeface="Karla"/>
                <a:sym typeface="Karla"/>
              </a:endParaRPr>
            </a:p>
          </p:txBody>
        </p:sp>
      </p:grpSp>
      <p:sp>
        <p:nvSpPr>
          <p:cNvPr id="5" name="Title 4">
            <a:extLst>
              <a:ext uri="{FF2B5EF4-FFF2-40B4-BE49-F238E27FC236}">
                <a16:creationId xmlns:a16="http://schemas.microsoft.com/office/drawing/2014/main" id="{1FE1C070-AE3A-DBC9-E7FC-B233E403A4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542" y="603504"/>
            <a:ext cx="4235820" cy="3739895"/>
          </a:xfrm>
        </p:spPr>
        <p:txBody>
          <a:bodyPr>
            <a:normAutofit/>
          </a:bodyPr>
          <a:lstStyle>
            <a:lvl1pPr>
              <a:defRPr sz="5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2F9F140D-1A01-09CE-B008-51350362B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93542" y="4661255"/>
            <a:ext cx="4235820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800" cap="all" baseline="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13962" y="1"/>
            <a:ext cx="6578039" cy="6858000"/>
          </a:xfrm>
          <a:blipFill>
            <a:blip r:embed="rId2">
              <a:alphaModFix amt="85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a:blipFill>
        </p:spPr>
        <p:txBody>
          <a:bodyPr vert="horz" lIns="91440" tIns="0" rIns="0" bIns="0" rtlCol="0">
            <a:noAutofit/>
          </a:bodyPr>
          <a:lstStyle>
            <a:lvl1pPr marL="0" indent="0">
              <a:buNone/>
              <a:defRPr lang="en-US" sz="2400" b="0" i="0"/>
            </a:lvl1pPr>
          </a:lstStyle>
          <a:p>
            <a:pPr marL="228603" lvl="0" indent="-228603">
              <a:lnSpc>
                <a:spcPct val="150000"/>
              </a:lnSpc>
            </a:pPr>
            <a:r>
              <a:rPr lang="en-US"/>
              <a:t> 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33280CB-6F3A-4AAC-F373-F6910037E871}"/>
              </a:ext>
            </a:extLst>
          </p:cNvPr>
          <p:cNvCxnSpPr>
            <a:cxnSpLocks/>
          </p:cNvCxnSpPr>
          <p:nvPr/>
        </p:nvCxnSpPr>
        <p:spPr>
          <a:xfrm>
            <a:off x="5594712" y="1"/>
            <a:ext cx="0" cy="685800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4942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7487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openai.com/index/gpt-5-6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research.google/blog/sensorfm-towards-a-general-intelligence-and-interface-for-wearable-health-data/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mistral.ai/news/robostral-navigate/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cohere.com/blog/transcribe-arabic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crunch.com/2026/07/08/prime-intellect-raises-130m-series-a-to-help-enterprises-build-their-own-ai-agents/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D4850D-BC91-1D6B-7798-FABE03FB7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720" y="603596"/>
            <a:ext cx="4235684" cy="3739774"/>
          </a:xfrm>
        </p:spPr>
        <p:txBody>
          <a:bodyPr anchor="t">
            <a:normAutofit/>
          </a:bodyPr>
          <a:lstStyle/>
          <a:p>
            <a:pPr>
              <a:lnSpc>
                <a:spcPts val="5550"/>
              </a:lnSpc>
            </a:pPr>
            <a:r>
              <a:rPr lang="en-US" sz="5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Top Gen AI Advances</a:t>
            </a:r>
            <a:r>
              <a:rPr lang="en-US" sz="5400" b="1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: CW28, </a:t>
            </a:r>
            <a:r>
              <a:rPr lang="en-US" sz="5400" b="1" dirty="0">
                <a:solidFill>
                  <a:srgbClr val="443728"/>
                </a:solidFill>
                <a:latin typeface="Crimson Pro Bold" pitchFamily="34" charset="0"/>
                <a:ea typeface="Crimson Pro Bold" pitchFamily="34" charset="-122"/>
                <a:cs typeface="Crimson Pro Bold" pitchFamily="34" charset="-120"/>
              </a:rPr>
              <a:t>2026</a:t>
            </a:r>
            <a:br>
              <a:rPr lang="en-US" sz="5400" dirty="0"/>
            </a:br>
            <a:endParaRPr lang="en-US" sz="5400" dirty="0"/>
          </a:p>
        </p:txBody>
      </p:sp>
      <p:pic>
        <p:nvPicPr>
          <p:cNvPr id="4" name="Picture 3" descr="A network of lines and dots background">
            <a:extLst>
              <a:ext uri="{FF2B5EF4-FFF2-40B4-BE49-F238E27FC236}">
                <a16:creationId xmlns:a16="http://schemas.microsoft.com/office/drawing/2014/main" id="{475073C6-DE16-468C-B8A7-41B48118D75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3885" r="14177"/>
          <a:stretch>
            <a:fillRect/>
          </a:stretch>
        </p:blipFill>
        <p:spPr>
          <a:xfrm>
            <a:off x="5613977" y="121"/>
            <a:ext cx="6577827" cy="6857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67163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C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" y="0"/>
            <a:ext cx="12027103" cy="137160"/>
          </a:xfrm>
          <a:prstGeom prst="rect">
            <a:avLst/>
          </a:prstGeom>
          <a:solidFill>
            <a:srgbClr val="EAF1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124712"/>
            <a:ext cx="10863072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402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Frontier model / coding / enterprise productivity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10652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OpenAI launches GPT‑5.6 for advanced research, coding, and enterprise workflows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75104" y="138988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view of the launch, proof point, and enterprise implication.</a:t>
            </a:r>
            <a:endParaRPr lang="en-US" sz="1200" dirty="0"/>
          </a:p>
        </p:txBody>
      </p:sp>
      <p:sp>
        <p:nvSpPr>
          <p:cNvPr id="11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920240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8379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Stronger model family for coding, science, cybersecurity, knowledge work, and enterprise workflows.</a:t>
            </a:r>
            <a:endParaRPr lang="en-US" sz="1530" dirty="0"/>
          </a:p>
        </p:txBody>
      </p:sp>
      <p:sp>
        <p:nvSpPr>
          <p:cNvPr id="14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35808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953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236976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emphasizes better intelligence and efficiency, with improved performance per dollar.</a:t>
            </a:r>
            <a:endParaRPr lang="en-US" sz="1530" dirty="0"/>
          </a:p>
        </p:txBody>
      </p:sp>
      <p:sp>
        <p:nvSpPr>
          <p:cNvPr id="17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51376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352544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software engineering, research acceleration, cybersecurity analysis, and complex automation.</a:t>
            </a:r>
            <a:endParaRPr lang="en-US" sz="1530" dirty="0"/>
          </a:p>
        </p:txBody>
      </p:sp>
      <p:sp>
        <p:nvSpPr>
          <p:cNvPr id="20" name="signal fiel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3794760" cy="433425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ignal rai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0" cy="4334256"/>
          </a:xfrm>
          <a:prstGeom prst="line">
            <a:avLst/>
          </a:prstGeom>
          <a:noFill/>
          <a:ln w="3302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54112" y="1874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35824" y="2249424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GPT‑5.6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7763256" y="2999232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performance per dollar</a:t>
            </a:r>
            <a:endParaRPr lang="en-US" sz="1600" dirty="0"/>
          </a:p>
        </p:txBody>
      </p:sp>
      <p:sp>
        <p:nvSpPr>
          <p:cNvPr id="25" name="pane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3703320"/>
            <a:ext cx="29718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63256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enterprise audience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63256" y="4297680"/>
            <a:ext cx="2834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+ research teams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63256" y="50474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763256" y="5376672"/>
            <a:ext cx="29077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85000" lnSpcReduction="1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performance shifts from experimentation to cost-efficient work automation.</a:t>
            </a:r>
            <a:endParaRPr lang="en-US" sz="1420" dirty="0"/>
          </a:p>
        </p:txBody>
      </p:sp>
      <p:sp>
        <p:nvSpPr>
          <p:cNvPr id="30" name="footer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64922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endParaRPr lang="en-US" sz="880" dirty="0"/>
          </a:p>
        </p:txBody>
      </p:sp>
      <p:sp>
        <p:nvSpPr>
          <p:cNvPr id="32" name="Text 30">
            <a:hlinkClick r:id="rId3" tooltip="OpenAI"/>
          </p:cNvPr>
          <p:cNvSpPr/>
          <p:nvPr/>
        </p:nvSpPr>
        <p:spPr>
          <a:xfrm>
            <a:off x="1225296" y="64922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u="sng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tooltip="Open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1155680" y="64922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1/5</a:t>
            </a:r>
            <a:endParaRPr lang="en-US" sz="8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C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" y="0"/>
            <a:ext cx="12027103" cy="137160"/>
          </a:xfrm>
          <a:prstGeom prst="rect">
            <a:avLst/>
          </a:prstGeom>
          <a:solidFill>
            <a:srgbClr val="EAF1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124712"/>
            <a:ext cx="10863072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402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 AI / foundation model / wearable intelligence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10652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Google Research introduces SensorFM for wearable health intelligence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75104" y="138988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view of the launch, proof point, and enterprise implication.</a:t>
            </a:r>
            <a:endParaRPr lang="en-US" sz="1200" dirty="0"/>
          </a:p>
        </p:txBody>
      </p:sp>
      <p:sp>
        <p:nvSpPr>
          <p:cNvPr id="11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920240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8379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 Research positions SensorFM as a general intelligence layer for wearable health data.</a:t>
            </a:r>
            <a:endParaRPr lang="en-US" sz="1530" dirty="0"/>
          </a:p>
        </p:txBody>
      </p:sp>
      <p:sp>
        <p:nvSpPr>
          <p:cNvPr id="14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35808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953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236976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learns reusable representations from large-scale wearable sensor streams.</a:t>
            </a:r>
            <a:endParaRPr lang="en-US" sz="1530" dirty="0"/>
          </a:p>
        </p:txBody>
      </p:sp>
      <p:sp>
        <p:nvSpPr>
          <p:cNvPr id="17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51376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352544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Relevant to preventive healthcare, employee wellbeing, health insurance, and personalized wellness platforms.</a:t>
            </a:r>
            <a:endParaRPr lang="en-US" sz="1530" dirty="0"/>
          </a:p>
        </p:txBody>
      </p:sp>
      <p:sp>
        <p:nvSpPr>
          <p:cNvPr id="20" name="signal fiel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3794760" cy="433425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ignal rai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0" cy="4334256"/>
          </a:xfrm>
          <a:prstGeom prst="line">
            <a:avLst/>
          </a:prstGeom>
          <a:noFill/>
          <a:ln w="3302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54112" y="1874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35824" y="2249424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SensorFM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7763256" y="2999232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Reusable health representations</a:t>
            </a:r>
            <a:endParaRPr lang="en-US" sz="1600" dirty="0"/>
          </a:p>
        </p:txBody>
      </p:sp>
      <p:sp>
        <p:nvSpPr>
          <p:cNvPr id="25" name="pane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3703320"/>
            <a:ext cx="29718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63256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enterprise audience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63256" y="4297680"/>
            <a:ext cx="2834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+ wellbeing platforms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63256" y="50474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763256" y="5376672"/>
            <a:ext cx="29077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Wearable data becomes a reusable foundation for health intelligence.</a:t>
            </a:r>
            <a:endParaRPr lang="en-US" sz="1420" dirty="0"/>
          </a:p>
        </p:txBody>
      </p:sp>
      <p:sp>
        <p:nvSpPr>
          <p:cNvPr id="30" name="footer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64922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endParaRPr lang="en-US" sz="880" dirty="0"/>
          </a:p>
        </p:txBody>
      </p:sp>
      <p:sp>
        <p:nvSpPr>
          <p:cNvPr id="32" name="Text 30">
            <a:hlinkClick r:id="rId3" tooltip="Google Research"/>
          </p:cNvPr>
          <p:cNvSpPr/>
          <p:nvPr/>
        </p:nvSpPr>
        <p:spPr>
          <a:xfrm>
            <a:off x="1225296" y="64922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u="sng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tooltip="Google Resear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Google Research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1155680" y="64922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2/5</a:t>
            </a:r>
            <a:endParaRPr lang="en-US" sz="8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C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" y="0"/>
            <a:ext cx="12027103" cy="137160"/>
          </a:xfrm>
          <a:prstGeom prst="rect">
            <a:avLst/>
          </a:prstGeom>
          <a:solidFill>
            <a:srgbClr val="EAF1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124712"/>
            <a:ext cx="10863072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402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Physical AI / robotics / embodied AI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10652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Mistral launches Robostral Navigate for single-camera robotic navigation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75104" y="138988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view of the launch, proof point, and enterprise implication.</a:t>
            </a:r>
            <a:endParaRPr lang="en-US" sz="1200" dirty="0"/>
          </a:p>
        </p:txBody>
      </p:sp>
      <p:sp>
        <p:nvSpPr>
          <p:cNvPr id="11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920240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8379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Mistral introduced an 8B embodied-navigation model using only a single RGB camera.</a:t>
            </a:r>
            <a:endParaRPr lang="en-US" sz="1530" dirty="0"/>
          </a:p>
        </p:txBody>
      </p:sp>
      <p:sp>
        <p:nvSpPr>
          <p:cNvPr id="14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35808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953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236976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reports 76.6% success on unseen R2R‑CE benchmarks without LiDAR, depth sensors, or multiple cameras.</a:t>
            </a:r>
            <a:endParaRPr lang="en-US" sz="1530" dirty="0"/>
          </a:p>
        </p:txBody>
      </p:sp>
      <p:sp>
        <p:nvSpPr>
          <p:cNvPr id="17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51376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352544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Strong physical-AI story for logistics, manufacturing, warehouse automation, inspection, and service robotics.</a:t>
            </a:r>
            <a:endParaRPr lang="en-US" sz="1530" dirty="0"/>
          </a:p>
        </p:txBody>
      </p:sp>
      <p:sp>
        <p:nvSpPr>
          <p:cNvPr id="20" name="signal fiel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3794760" cy="433425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ignal rai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0" cy="4334256"/>
          </a:xfrm>
          <a:prstGeom prst="line">
            <a:avLst/>
          </a:prstGeom>
          <a:noFill/>
          <a:ln w="3302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54112" y="1874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35824" y="2249424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76.6%</a:t>
            </a:r>
            <a:endParaRPr lang="en-US" sz="3500" dirty="0"/>
          </a:p>
        </p:txBody>
      </p:sp>
      <p:sp>
        <p:nvSpPr>
          <p:cNvPr id="24" name="Text 22"/>
          <p:cNvSpPr/>
          <p:nvPr/>
        </p:nvSpPr>
        <p:spPr>
          <a:xfrm>
            <a:off x="7763256" y="2999232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on unseen R2R‑CE</a:t>
            </a:r>
            <a:endParaRPr lang="en-US" sz="1600" dirty="0"/>
          </a:p>
        </p:txBody>
      </p:sp>
      <p:sp>
        <p:nvSpPr>
          <p:cNvPr id="25" name="pane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3703320"/>
            <a:ext cx="29718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63256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enterprise audience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63256" y="4297680"/>
            <a:ext cx="2834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+ robotics teams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63256" y="50474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763256" y="5376672"/>
            <a:ext cx="29077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Robotics gains a simpler path to real-world navigation.</a:t>
            </a:r>
            <a:endParaRPr lang="en-US" sz="1420" dirty="0"/>
          </a:p>
        </p:txBody>
      </p:sp>
      <p:sp>
        <p:nvSpPr>
          <p:cNvPr id="30" name="footer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64922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endParaRPr lang="en-US" sz="880" dirty="0"/>
          </a:p>
        </p:txBody>
      </p:sp>
      <p:sp>
        <p:nvSpPr>
          <p:cNvPr id="32" name="Text 30">
            <a:hlinkClick r:id="rId3" tooltip="Mistral AI"/>
          </p:cNvPr>
          <p:cNvSpPr/>
          <p:nvPr/>
        </p:nvSpPr>
        <p:spPr>
          <a:xfrm>
            <a:off x="1225296" y="64922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u="sng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tooltip="Mistral AI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Mistral AI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1155680" y="64922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3/5</a:t>
            </a:r>
            <a:endParaRPr lang="en-US" sz="8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C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" y="0"/>
            <a:ext cx="12027103" cy="137160"/>
          </a:xfrm>
          <a:prstGeom prst="rect">
            <a:avLst/>
          </a:prstGeom>
          <a:solidFill>
            <a:srgbClr val="EAF1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124712"/>
            <a:ext cx="10863072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402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Speech AI / multilingual AI / enterprise language intelligence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10652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Cohere releases Transcribe Arabic for enterprise speech recognition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75104" y="138988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view of the launch, proof point, and enterprise implication.</a:t>
            </a:r>
            <a:endParaRPr lang="en-US" sz="1200" dirty="0"/>
          </a:p>
        </p:txBody>
      </p:sp>
      <p:sp>
        <p:nvSpPr>
          <p:cNvPr id="11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920240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8379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Cohere introduced Transcribe Arabic for Arabic speech-to-text in enterprise and developer use cases.</a:t>
            </a:r>
            <a:endParaRPr lang="en-US" sz="1530" dirty="0"/>
          </a:p>
        </p:txBody>
      </p:sp>
      <p:sp>
        <p:nvSpPr>
          <p:cNvPr id="14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35808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953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236976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release expands speech AI coverage for Arabic-language markets and multilingual workflows.</a:t>
            </a:r>
            <a:endParaRPr lang="en-US" sz="1530" dirty="0"/>
          </a:p>
        </p:txBody>
      </p:sp>
      <p:sp>
        <p:nvSpPr>
          <p:cNvPr id="17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51376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352544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Useful for customer support, call-center analytics, public-sector workflows, compliance transcription, and knowledge capture.</a:t>
            </a:r>
            <a:endParaRPr lang="en-US" sz="1530" dirty="0"/>
          </a:p>
        </p:txBody>
      </p:sp>
      <p:sp>
        <p:nvSpPr>
          <p:cNvPr id="20" name="signal fiel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3794760" cy="433425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ignal rai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0" cy="4334256"/>
          </a:xfrm>
          <a:prstGeom prst="line">
            <a:avLst/>
          </a:prstGeom>
          <a:noFill/>
          <a:ln w="3302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54112" y="1874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35824" y="2249424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31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Arabic ASR</a:t>
            </a:r>
            <a:endParaRPr lang="en-US" sz="3100" dirty="0"/>
          </a:p>
        </p:txBody>
      </p:sp>
      <p:sp>
        <p:nvSpPr>
          <p:cNvPr id="24" name="Text 22"/>
          <p:cNvSpPr/>
          <p:nvPr/>
        </p:nvSpPr>
        <p:spPr>
          <a:xfrm>
            <a:off x="7763256" y="2999232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speech-to-text</a:t>
            </a:r>
            <a:endParaRPr lang="en-US" sz="1600" dirty="0"/>
          </a:p>
        </p:txBody>
      </p:sp>
      <p:sp>
        <p:nvSpPr>
          <p:cNvPr id="25" name="pane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3703320"/>
            <a:ext cx="29718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63256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enterprise audience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63256" y="4297680"/>
            <a:ext cx="2834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+ compliance teams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63256" y="50474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763256" y="5376672"/>
            <a:ext cx="29077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Arabic speech data becomes easier to capture and operationalize.</a:t>
            </a:r>
            <a:endParaRPr lang="en-US" sz="1420" dirty="0"/>
          </a:p>
        </p:txBody>
      </p:sp>
      <p:sp>
        <p:nvSpPr>
          <p:cNvPr id="30" name="footer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64922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endParaRPr lang="en-US" sz="880" dirty="0"/>
          </a:p>
        </p:txBody>
      </p:sp>
      <p:sp>
        <p:nvSpPr>
          <p:cNvPr id="32" name="Text 30">
            <a:hlinkClick r:id="rId3" tooltip="Cohere"/>
          </p:cNvPr>
          <p:cNvSpPr/>
          <p:nvPr/>
        </p:nvSpPr>
        <p:spPr>
          <a:xfrm>
            <a:off x="1225296" y="64922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u="sng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tooltip="Cohe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Cohere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1155680" y="64922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4/5</a:t>
            </a:r>
            <a:endParaRPr lang="en-US" sz="8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 accent ba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B5C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op wash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592" y="0"/>
            <a:ext cx="12027103" cy="137160"/>
          </a:xfrm>
          <a:prstGeom prst="rect">
            <a:avLst/>
          </a:prstGeom>
          <a:solidFill>
            <a:srgbClr val="EAF1FF"/>
          </a:solidFill>
          <a:ln w="12700">
            <a:solidFill>
              <a:srgbClr val="1B5C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itle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124712"/>
            <a:ext cx="10863072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452360" y="4023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10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infrastructure / enterprise AI tooling / funding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658368"/>
            <a:ext cx="10652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 Intellect raises $130M to help enterprises build their own AI agents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58368" y="1389888"/>
            <a:ext cx="12984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Topic brief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975104" y="1389888"/>
            <a:ext cx="4736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2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concise view of the launch, proof point, and enterprise implication.</a:t>
            </a:r>
            <a:endParaRPr lang="en-US" sz="1200" dirty="0"/>
          </a:p>
        </p:txBody>
      </p:sp>
      <p:sp>
        <p:nvSpPr>
          <p:cNvPr id="11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1920240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868680" y="1837944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changed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2121408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 Intellect raised a $130M Series A at a reported $1B valuation.</a:t>
            </a:r>
            <a:endParaRPr lang="en-US" sz="1530" dirty="0"/>
          </a:p>
        </p:txBody>
      </p:sp>
      <p:sp>
        <p:nvSpPr>
          <p:cNvPr id="14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3035808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68680" y="2953512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3236976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company provides compute and specialized software tools for enterprises building AI agents.</a:t>
            </a:r>
            <a:endParaRPr lang="en-US" sz="1530" dirty="0"/>
          </a:p>
        </p:txBody>
      </p:sp>
      <p:sp>
        <p:nvSpPr>
          <p:cNvPr id="17" name="bullet accent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4151376"/>
            <a:ext cx="100584" cy="0"/>
          </a:xfrm>
          <a:prstGeom prst="line">
            <a:avLst/>
          </a:prstGeom>
          <a:noFill/>
          <a:ln w="2794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68680" y="4069080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relevance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68680" y="4352544"/>
            <a:ext cx="5961888" cy="530352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marL="0" indent="0" algn="l">
              <a:buNone/>
            </a:pPr>
            <a:r>
              <a:rPr lang="en-US" sz="153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Signals demand for enterprise-controlled AI infrastructure, especially among companies that want to build agents.</a:t>
            </a:r>
            <a:endParaRPr lang="en-US" sz="1530" dirty="0"/>
          </a:p>
        </p:txBody>
      </p:sp>
      <p:sp>
        <p:nvSpPr>
          <p:cNvPr id="20" name="signal field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3794760" cy="4334256"/>
          </a:xfrm>
          <a:prstGeom prst="rect">
            <a:avLst/>
          </a:prstGeom>
          <a:solidFill>
            <a:srgbClr val="F7F9FC"/>
          </a:solidFill>
          <a:ln w="12700">
            <a:solidFill>
              <a:srgbClr val="F7F9FC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ignal rail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498080" y="1609344"/>
            <a:ext cx="0" cy="4334256"/>
          </a:xfrm>
          <a:prstGeom prst="line">
            <a:avLst/>
          </a:prstGeom>
          <a:noFill/>
          <a:ln w="33020">
            <a:solidFill>
              <a:srgbClr val="1B5C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754112" y="187452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SIGNAL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735824" y="2249424"/>
            <a:ext cx="3154680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marL="0" indent="0" algn="l">
              <a:buNone/>
            </a:pPr>
            <a:r>
              <a:rPr lang="en-US" sz="3500" b="1" dirty="0">
                <a:solidFill>
                  <a:srgbClr val="1D232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$130M</a:t>
            </a:r>
            <a:endParaRPr lang="en-US" sz="3500" dirty="0"/>
          </a:p>
        </p:txBody>
      </p:sp>
      <p:sp>
        <p:nvSpPr>
          <p:cNvPr id="24" name="Text 22"/>
          <p:cNvSpPr/>
          <p:nvPr/>
        </p:nvSpPr>
        <p:spPr>
          <a:xfrm>
            <a:off x="7763256" y="2999232"/>
            <a:ext cx="2944368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A at $1B valuation</a:t>
            </a:r>
            <a:endParaRPr lang="en-US" sz="1600" dirty="0"/>
          </a:p>
        </p:txBody>
      </p:sp>
      <p:sp>
        <p:nvSpPr>
          <p:cNvPr id="25" name="panel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54112" y="3703320"/>
            <a:ext cx="2971800" cy="0"/>
          </a:xfrm>
          <a:prstGeom prst="line">
            <a:avLst/>
          </a:prstGeom>
          <a:noFill/>
          <a:ln w="1270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763256" y="3950208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enterprise audience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7763256" y="4297680"/>
            <a:ext cx="2834640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AI platform teams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7763256" y="5047488"/>
            <a:ext cx="1005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7763256" y="5376672"/>
            <a:ext cx="29077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 fontScale="92500"/>
          </a:bodyPr>
          <a:lstStyle/>
          <a:p>
            <a:pPr marL="0" indent="0" algn="l">
              <a:buNone/>
            </a:pPr>
            <a:r>
              <a:rPr lang="en-US" sz="1420" dirty="0">
                <a:solidFill>
                  <a:srgbClr val="1D2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builders want more control over compute, tooling, and evaluation.</a:t>
            </a:r>
            <a:endParaRPr lang="en-US" sz="1420" dirty="0"/>
          </a:p>
        </p:txBody>
      </p:sp>
      <p:sp>
        <p:nvSpPr>
          <p:cNvPr id="30" name="footer divider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58368" y="6419088"/>
            <a:ext cx="10881360" cy="0"/>
          </a:xfrm>
          <a:prstGeom prst="line">
            <a:avLst/>
          </a:prstGeom>
          <a:noFill/>
          <a:ln w="10160">
            <a:solidFill>
              <a:srgbClr val="D7DEE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58368" y="6492240"/>
            <a:ext cx="40233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</a:t>
            </a:r>
            <a:endParaRPr lang="en-US" sz="880" dirty="0"/>
          </a:p>
        </p:txBody>
      </p:sp>
      <p:sp>
        <p:nvSpPr>
          <p:cNvPr id="32" name="Text 30">
            <a:hlinkClick r:id="rId3" tooltip="TechCrunch"/>
          </p:cNvPr>
          <p:cNvSpPr/>
          <p:nvPr/>
        </p:nvSpPr>
        <p:spPr>
          <a:xfrm>
            <a:off x="1225296" y="6492240"/>
            <a:ext cx="2468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80" u="sng" dirty="0">
                <a:solidFill>
                  <a:srgbClr val="1147C4"/>
                </a:solidFill>
                <a:latin typeface="Aptos" pitchFamily="34" charset="0"/>
                <a:ea typeface="Aptos" pitchFamily="34" charset="-122"/>
                <a:cs typeface="Aptos" pitchFamily="34" charset="-120"/>
                <a:hlinkClick r:id="rId3" tooltip="TechCrunch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TechCrunch</a:t>
            </a:r>
            <a:endParaRPr lang="en-US" sz="880" dirty="0"/>
          </a:p>
        </p:txBody>
      </p:sp>
      <p:sp>
        <p:nvSpPr>
          <p:cNvPr id="33" name="Text 31"/>
          <p:cNvSpPr/>
          <p:nvPr/>
        </p:nvSpPr>
        <p:spPr>
          <a:xfrm>
            <a:off x="11155680" y="6492240"/>
            <a:ext cx="3474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5/5</a:t>
            </a:r>
            <a:endParaRPr lang="en-US" sz="8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597</Words>
  <Application>Microsoft Office PowerPoint</Application>
  <PresentationFormat>Widescreen</PresentationFormat>
  <Paragraphs>107</Paragraphs>
  <Slides>6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Office Theme</vt:lpstr>
      <vt:lpstr>Top Gen AI Advances: CW28, 2026 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Bosch Group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Sudarshan Srinath (BD/SWD-BEA)</dc:creator>
  <cp:lastModifiedBy>Sudarshan Srinath (BD/SWD-BEA)</cp:lastModifiedBy>
  <cp:revision>2</cp:revision>
  <dcterms:created xsi:type="dcterms:W3CDTF">2026-07-30T16:48:46Z</dcterms:created>
  <dcterms:modified xsi:type="dcterms:W3CDTF">2026-08-26T10:09:07Z</dcterms:modified>
</cp:coreProperties>
</file>