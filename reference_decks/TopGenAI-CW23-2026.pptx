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EDC91-77C6-4F86-BA77-EE608E013DDC}" v="3" dt="2026-06-24T04:50:49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757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F394-6BC4-491C-90FD-EF72E84E7F3C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5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6F92F2-5956-4916-B797-80491910171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03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ai.com/index/codex-for-every-role-tool-workflow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blog/JetBrains/mellum2-launch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search.google/blog/the-next-chapter-in-flood-resilience-open-sourcing-googles-hydrology-framework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hcrunch.com/2026/06/03/coralogix-raises-200m-in-race-to-build-the-monitoring-layer-for-ai-agent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606.074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850D-BC91-1D6B-7798-FABE03FB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0" y="603596"/>
            <a:ext cx="4235684" cy="3739774"/>
          </a:xfrm>
        </p:spPr>
        <p:txBody>
          <a:bodyPr anchor="t">
            <a:normAutofit/>
          </a:bodyPr>
          <a:lstStyle/>
          <a:p>
            <a:pPr>
              <a:lnSpc>
                <a:spcPts val="5550"/>
              </a:lnSpc>
            </a:pPr>
            <a:r>
              <a:rPr lang="en-US" sz="5400" b="1" dirty="0">
                <a:solidFill>
                  <a:schemeClr val="tx1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Gen AI Advances: CW23, 2026</a:t>
            </a:r>
            <a:br>
              <a:rPr lang="en-US" sz="5400" dirty="0">
                <a:solidFill>
                  <a:schemeClr val="tx1"/>
                </a:solidFill>
              </a:rPr>
            </a:br>
            <a:endParaRPr lang="en-US" sz="5400" dirty="0">
              <a:solidFill>
                <a:schemeClr val="tx1"/>
              </a:solidFill>
            </a:endParaRPr>
          </a:p>
        </p:txBody>
      </p:sp>
      <p:pic>
        <p:nvPicPr>
          <p:cNvPr id="4" name="Picture 3" descr="A network of lines and dots background">
            <a:extLst>
              <a:ext uri="{FF2B5EF4-FFF2-40B4-BE49-F238E27FC236}">
                <a16:creationId xmlns:a16="http://schemas.microsoft.com/office/drawing/2014/main" id="{475073C6-DE16-468C-B8A7-41B48118D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85" r="14177"/>
          <a:stretch>
            <a:fillRect/>
          </a:stretch>
        </p:blipFill>
        <p:spPr>
          <a:xfrm>
            <a:off x="5613977" y="121"/>
            <a:ext cx="6577827" cy="685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1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73152" cy="310896"/>
          </a:xfrm>
          <a:prstGeom prst="rect">
            <a:avLst/>
          </a:prstGeom>
          <a:solidFill>
            <a:srgbClr val="176BFF"/>
          </a:solidFill>
          <a:ln w="12700">
            <a:solidFill>
              <a:srgbClr val="17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017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301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KNOWLEDGE-WORK AUTOMATION / DEVELOPER-ADJACENT PRODUCTIVITY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155680" cy="10973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623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2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 expands Codex beyond coding into knowledge work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2331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697480"/>
            <a:ext cx="5440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Role-specific Codex plugins, Sites, and in-place annotations extend Codex into reports, dashboards, internal apps, presentations, contracts, and workflow automation.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530352" y="3950208"/>
            <a:ext cx="19522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5M+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0352" y="4462272"/>
            <a:ext cx="19522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47188" y="3950208"/>
            <a:ext cx="19522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47188" y="4462272"/>
            <a:ext cx="19522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workers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55748" y="3995928"/>
            <a:ext cx="10973" cy="822960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5285232"/>
            <a:ext cx="54864" cy="758952"/>
          </a:xfrm>
          <a:prstGeom prst="rect">
            <a:avLst/>
          </a:prstGeom>
          <a:solidFill>
            <a:srgbClr val="176BFF"/>
          </a:solidFill>
          <a:ln w="12700">
            <a:solidFill>
              <a:srgbClr val="17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" y="528523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5614416"/>
            <a:ext cx="4864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coding infrastructure is moving into broader productivity and internal-tool creation.</a:t>
            </a:r>
            <a:endParaRPr lang="en-US" sz="1550" dirty="0"/>
          </a:p>
        </p:txBody>
      </p:sp>
      <p:pic>
        <p:nvPicPr>
          <p:cNvPr id="17" name="Image 0" descr="Abstract enterprise team collaborating with AI workflow dashboards"/>
          <p:cNvPicPr>
            <a:picLocks noChangeAspect="1"/>
          </p:cNvPicPr>
          <p:nvPr/>
        </p:nvPicPr>
        <p:blipFill>
          <a:blip r:embed="rId3"/>
          <a:srcRect l="9860" r="9860"/>
          <a:stretch/>
        </p:blipFill>
        <p:spPr>
          <a:xfrm>
            <a:off x="6446520" y="1024128"/>
            <a:ext cx="5230368" cy="4343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46520" y="1024128"/>
            <a:ext cx="5230368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5605272"/>
            <a:ext cx="1051560" cy="310896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53528" y="5605272"/>
            <a:ext cx="1051560" cy="310896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14816" y="5605272"/>
            <a:ext cx="1179576" cy="310896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apps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104120" y="5605272"/>
            <a:ext cx="1051560" cy="310896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51967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Source: CW23 internal briefing; OpenAI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73152" cy="310896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017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301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MODEL / CODING MODEL / PRIVATE DEPLOYMENT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155680" cy="10973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Abstract code infrastructure and private deployment server environment"/>
          <p:cNvPicPr>
            <a:picLocks noChangeAspect="1"/>
          </p:cNvPicPr>
          <p:nvPr/>
        </p:nvPicPr>
        <p:blipFill>
          <a:blip r:embed="rId3"/>
          <a:srcRect l="10350" r="10350"/>
          <a:stretch/>
        </p:blipFill>
        <p:spPr>
          <a:xfrm>
            <a:off x="530352" y="1078992"/>
            <a:ext cx="5102352" cy="4425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1078992"/>
            <a:ext cx="5102352" cy="4425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44768" y="1005840"/>
            <a:ext cx="535838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02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JetBrains Mellum2: open MoE model for code and enterprise AI systems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172200" y="2615184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12B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72200" y="312724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18704" y="2615184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2.5B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18704" y="312724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per token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27264" y="2660904"/>
            <a:ext cx="10973" cy="822960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65208" y="2615184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Apache 2.0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665208" y="312724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573768" y="2660904"/>
            <a:ext cx="10973" cy="822960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7220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it fits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72200" y="4187952"/>
            <a:ext cx="513892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routing, RAG, summarization, sub-agents, high-throughput coding, and private deployment.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172200" y="5340096"/>
            <a:ext cx="54864" cy="749808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36792" y="534009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36792" y="5669280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lower-latency, privately deployable option for software engineering and AI application pipelines.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Source: CW23 internal briefing; Hugging Face / JetBrains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73152" cy="310896"/>
          </a:xfrm>
          <a:prstGeom prst="rect">
            <a:avLst/>
          </a:prstGeom>
          <a:solidFill>
            <a:srgbClr val="0B8A8F"/>
          </a:solidFill>
          <a:ln w="12700">
            <a:solidFill>
              <a:srgbClr val="0B8A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017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8A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301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CLIMATE / OPEN-SOURCE RESEARCH / DISASTER RESILIENCE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155680" cy="10973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969264"/>
            <a:ext cx="55595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02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open-sources hydrology framework for AI flood forecasting</a:t>
            </a:r>
            <a:endParaRPr lang="en-US" sz="2800" dirty="0"/>
          </a:p>
        </p:txBody>
      </p:sp>
      <p:pic>
        <p:nvPicPr>
          <p:cNvPr id="7" name="Image 0" descr="AI flood forecasting hydrology monitoring river flood resilience"/>
          <p:cNvPicPr>
            <a:picLocks noChangeAspect="1"/>
          </p:cNvPicPr>
          <p:nvPr/>
        </p:nvPicPr>
        <p:blipFill>
          <a:blip r:embed="rId3"/>
          <a:srcRect l="11131" r="11131"/>
          <a:stretch/>
        </p:blipFill>
        <p:spPr>
          <a:xfrm>
            <a:off x="6419088" y="987552"/>
            <a:ext cx="5285232" cy="44622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19088" y="987552"/>
            <a:ext cx="5285232" cy="44622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8A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633472"/>
            <a:ext cx="534924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Research open-sourced its hydrology modeling framework on 03 Jun 2026 to help national meteorological and hydrological services integrate AI flood forecasting into workflows.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48640" y="4096512"/>
            <a:ext cx="54864" cy="987552"/>
          </a:xfrm>
          <a:prstGeom prst="rect">
            <a:avLst/>
          </a:prstGeom>
          <a:solidFill>
            <a:srgbClr val="0B8A8F"/>
          </a:solidFill>
          <a:ln w="12700">
            <a:solidFill>
              <a:srgbClr val="0B8A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409651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8A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4425696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AI-for-good example: applied research that gives responders more time to act during climate resilience events.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55498" y="5458968"/>
            <a:ext cx="21808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8A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Frontline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55498" y="5971032"/>
            <a:ext cx="21808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workflows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802636" y="5513832"/>
            <a:ext cx="10973" cy="822960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651967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Source: CW23 internal briefing; Google Research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73152" cy="310896"/>
          </a:xfrm>
          <a:prstGeom prst="rect">
            <a:avLst/>
          </a:prstGeom>
          <a:solidFill>
            <a:srgbClr val="176BFF"/>
          </a:solidFill>
          <a:ln w="12700">
            <a:solidFill>
              <a:srgbClr val="17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017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301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/ AI OBSERVABILITY / ENTERPRISE INFRASTRUCTURE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155680" cy="10973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Abstract monitoring dashboards and observability signal traces for AI agents"/>
          <p:cNvPicPr>
            <a:picLocks noChangeAspect="1"/>
          </p:cNvPicPr>
          <p:nvPr/>
        </p:nvPicPr>
        <p:blipFill>
          <a:blip r:embed="rId3"/>
          <a:srcRect l="17810" r="17810"/>
          <a:stretch/>
        </p:blipFill>
        <p:spPr>
          <a:xfrm>
            <a:off x="530352" y="987552"/>
            <a:ext cx="5047488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987552"/>
            <a:ext cx="5047488" cy="45902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89904" y="987552"/>
            <a:ext cx="53400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02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Coralogix raises $200M to build the monitoring layer for AI systems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126480" y="2487168"/>
            <a:ext cx="22722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$200M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26480" y="2999232"/>
            <a:ext cx="22722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funding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63356" y="2487168"/>
            <a:ext cx="22722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$1.6B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563356" y="2999232"/>
            <a:ext cx="22722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post-money valuation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71916" y="2532888"/>
            <a:ext cx="10973" cy="822960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0" y="3785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signal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4160520"/>
            <a:ext cx="50840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AI agents and AI-powered software move into production, enterprises need observability, incident response, reliability tracking, and operational control.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6126480" y="5449824"/>
            <a:ext cx="54864" cy="713232"/>
          </a:xfrm>
          <a:prstGeom prst="rect">
            <a:avLst/>
          </a:prstGeom>
          <a:solidFill>
            <a:srgbClr val="176BFF"/>
          </a:solidFill>
          <a:ln w="12700">
            <a:solidFill>
              <a:srgbClr val="17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91072" y="5449824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91072" y="5779008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observability is becoming core infrastructure for autonomous systems at scale.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02920" y="651967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Source: CW23 internal briefing; TechCrunch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38328"/>
            <a:ext cx="73152" cy="310896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017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5568" y="3017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RESEARCH / SOFTWARE ENGINEERING AGENTS / AI TRAINING METHODS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155680" cy="10973"/>
          </a:xfrm>
          <a:prstGeom prst="rect">
            <a:avLst/>
          </a:prstGeom>
          <a:solidFill>
            <a:srgbClr val="D5E3F7"/>
          </a:solidFill>
          <a:ln w="12700">
            <a:solidFill>
              <a:srgbClr val="D5E3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55778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28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Socratic-SWE points toward self-evolving coding agents</a:t>
            </a:r>
            <a:endParaRPr lang="en-US" sz="2900" dirty="0"/>
          </a:p>
        </p:txBody>
      </p:sp>
      <p:pic>
        <p:nvPicPr>
          <p:cNvPr id="7" name="Image 0" descr="Coding agents learning from historical solving traces as looped neural pathways"/>
          <p:cNvPicPr>
            <a:picLocks noChangeAspect="1"/>
          </p:cNvPicPr>
          <p:nvPr/>
        </p:nvPicPr>
        <p:blipFill>
          <a:blip r:embed="rId3"/>
          <a:srcRect l="13718" r="13718"/>
          <a:stretch/>
        </p:blipFill>
        <p:spPr>
          <a:xfrm>
            <a:off x="6400800" y="987552"/>
            <a:ext cx="5285232" cy="40416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987552"/>
            <a:ext cx="5285232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E3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267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direction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615184"/>
            <a:ext cx="53492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arXiv paper proposes a closed-loop method where coding agents reuse historical solving traces as training signal, learning from failures, weaknesses, and progress.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48640" y="4096512"/>
            <a:ext cx="54864" cy="896112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409651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4425696"/>
            <a:ext cx="4974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software-engineering agents may improve through production-like experience instead of relying only on fixed synthetic tasks.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8368" y="5532120"/>
            <a:ext cx="1417320" cy="10973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52303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6928" y="563270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paths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377440" y="5532120"/>
            <a:ext cx="1417320" cy="10973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377440" y="52303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286000" y="563270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training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096512" y="5532120"/>
            <a:ext cx="1417320" cy="10973"/>
          </a:xfrm>
          <a:prstGeom prst="rect">
            <a:avLst/>
          </a:prstGeom>
          <a:solidFill>
            <a:srgbClr val="0B5AD9"/>
          </a:solidFill>
          <a:ln w="12700">
            <a:solidFill>
              <a:srgbClr val="0B5A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96512" y="52303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A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005072" y="563270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task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03435" y="5632704"/>
            <a:ext cx="38905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A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reuse  ·  closed-loop learning  ·  agent skills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" y="651967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Source: CW23 internal briefing; arXiv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15568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414</Words>
  <Application>Microsoft Office PowerPoint</Application>
  <PresentationFormat>Widescreen</PresentationFormat>
  <Paragraphs>79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Top Gen AI Advances: CW23, 2026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Sudarshan Srinath (BD/SWD-BEA)</dc:creator>
  <cp:lastModifiedBy>Sudarshan Srinath (BD/SWD-BEA)</cp:lastModifiedBy>
  <cp:revision>2</cp:revision>
  <dcterms:created xsi:type="dcterms:W3CDTF">2026-06-24T03:24:31Z</dcterms:created>
  <dcterms:modified xsi:type="dcterms:W3CDTF">2026-08-26T10:09:27Z</dcterms:modified>
</cp:coreProperties>
</file>